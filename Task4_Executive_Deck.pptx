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4F46E5"/>
                </a:solidFill>
                <a:latin typeface="Calibri"/>
              </a:defRPr>
            </a:pPr>
            <a:r>
              <a:t>STRATEGIC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Executive Summary: Capacity Bottlenecks &amp; Strategic Resource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65760"/>
            <a:ext cx="30449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172A"/>
                </a:solidFill>
                <a:latin typeface="Calibri"/>
              </a:defRPr>
            </a:pPr>
            <a:r>
              <a:t>Karib Shams | 01797470717</a:t>
            </a:r>
          </a:p>
          <a:p>
            <a:pPr algn="r">
              <a:defRPr sz="850">
                <a:solidFill>
                  <a:srgbClr val="64748B"/>
                </a:solidFill>
                <a:latin typeface="Calibri"/>
              </a:defRPr>
            </a:pPr>
            <a:r>
              <a:t>Delivery - On The Go  |  Slide 1 of 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3375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325880"/>
            <a:ext cx="32461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508760"/>
            <a:ext cx="29718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27048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Calibri"/>
              </a:defRPr>
            </a:pPr>
            <a:r>
              <a:t>BDT 175,200 vs BDT 70,000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BLANKET HIRING OVERSPENDS BUDGET BY 2.5x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39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1. The Management Dilemma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Challenge: Week 2 delivery attempts surged +21.9% citywide, and 4-week forecast projects sustained high demand (~13.6k attempts/week).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Hub Manager Request: Blanket hiring approval for 8 new delivery agents across overloaded hubs.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Budget Reality: Hiring 8 agents costs BDT 175,200 (BDT 40k fees + BDT 135.2k fixed salary), exceeding Finance's BDT 70,000 budget by 2.5x.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Rookie Speed Lag: New hires operate at only 60% speed in week 1, offering zero immediate relief to ongoing congestion.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325880"/>
            <a:ext cx="33375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325880"/>
            <a:ext cx="32461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08576" y="1508760"/>
            <a:ext cx="29718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4296" y="1527048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3 of 6 Hubs Overloaded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RIVERSIDE &amp; BROOKSIDE DRIVE ARTIFICIAL 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377439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2. Key Forensic Revelations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Asymmetric Overload: Only 3 of 6 hubs exceed 85% target in W2: Greenfield (88.6%), Riverside (90.8%), Hillcrest (95.9%).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Artificial Load at Riverside (H03): 64.4% of holds (563 holds) are agent-side failures (Late Dispatch, Not Attempted), inflating attempts to 1.39x of orders.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Intra-Cluster Mismatch (Cluster A): Lakeview operates at 56.2% utilisation (&lt;75% threshold), holding 4 surplus agents next to Greenfield.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Return Outliers at Brookside (H05): 3 senior agents cause 56.2% of hub returns (BDT 14,135 penalties).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325880"/>
            <a:ext cx="33375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65592" y="1325880"/>
            <a:ext cx="32461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02752" y="1508760"/>
            <a:ext cx="29718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1527048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BDT 65,698 (+110.2% ROI)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BALANCED NETWORK WITHIN BDT 70,000 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377439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3. Recommended Strategic Action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REJECT blanket 8 hires. Approve targeted 2-agent recruitment only at Hillcrest (H04).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TRANSFER 2 agents from Lakeview (H02) to Greenfield (H01) in Cluster A (BDT 4,000).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DEPLOY Hold Reduction Programme at Riverside (H03) for BDT 15,000, eliminating ~282 holds/wk.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RETRAIN 3 senior agents at Brookside (H05) to eliminate return penalties.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Total Spend: BDT 65,698 (Under BDT 70k limit).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Projected Net ROI: +110.2% on total capital deployed.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4F46E5"/>
                </a:solidFill>
                <a:latin typeface="Calibri"/>
              </a:defRPr>
            </a:pPr>
            <a:r>
              <a:t>TASK 1 / Q2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Hub Utilisation Diagnostic: Identifying True Network Capacity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65760"/>
            <a:ext cx="30449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172A"/>
                </a:solidFill>
                <a:latin typeface="Calibri"/>
              </a:defRPr>
            </a:pPr>
            <a:r>
              <a:t>Karib Shams | 01797470717</a:t>
            </a:r>
          </a:p>
          <a:p>
            <a:pPr algn="r">
              <a:defRPr sz="850">
                <a:solidFill>
                  <a:srgbClr val="64748B"/>
                </a:solidFill>
                <a:latin typeface="Calibri"/>
              </a:defRPr>
            </a:pPr>
            <a:r>
              <a:t>Delivery - On The Go  |  Slide 2 of 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325880"/>
            <a:ext cx="51206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508760"/>
            <a:ext cx="48463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27048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Calibri"/>
              </a:defRPr>
            </a:pPr>
            <a:r>
              <a:t>95.9% Peak Utilisation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HILLCREST, RIVERSIDE &amp; GREENFIELD OVERLOADED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39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Week 1 vs Week 2 Utilisation Breakdown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Policy Standard: 40 attempts/agent/day (280/wk). Target = 85.0% utilisation (34 attempts/day, 238/wk).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Overloaded Hubs in Week 2 (&gt; 85% Planning Threshold):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Hillcrest (H04): 95.87% (2,416 attempts / 9 agents) - Severely strained, +24.3% growth.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Riverside (H03): 90.80% (3,051 attempts / 12 agents) - Heavy congestion, +33.8% growth.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Greenfield (H01): 88.64% (2,482 attempts / 10 agents) - Capacity deficit post agent A1011 departure.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Underutilised &amp; Donor Hubs (&lt; 75% Mobility Rule):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Lakeview (H02): 56.17% (1,730 attempts / 11 agents) - 4 surplus agents available in Cluster A!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Brookside (H05): 71.49% (2,202 attempts / 11 agents) - Under capacity threshold in Cluster C.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Westwood (H06): 80.36% (2,025 attempts / 9 agents) - Perfectly balanced baseline.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32588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32588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28232" y="1508760"/>
            <a:ext cx="48463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Cluster A Transfer Fix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LAKEVIEW HAS 4 SURPLUS AGENTS TO BALANCE GREENFIELD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377439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Strategic Cluster Balancing Insights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Cluster A Internal Balancing Opportunity: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Lakeview (H02) at 56.17% sits directly adjacent to Greenfield (H01) at 88.64%.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Transferring 2 agents from H02 to H01 drops Greenfield utilisation to 73.9% and raises Lakeview to 68.6%. Both hubs operate perfectly within the 60–80% healthy zone.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Cluster B Structural Bottleneck: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Both hubs in Cluster B are overloaded: H03 (90.8%) and H04 (95.9%). No internal donor hub exists.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However, root causes are opposite: H03 is plagued by internal dispatch failures, while H04 experiences genuine organic commercial growth.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Impact of Inactive Agents: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2 agents left at end of Week 1 (A1011 at H01, A1064 at H06). This reduced Greenfield's baseline capacity by 280 attempts/wk, making transfer relief essential.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4F46E5"/>
                </a:solidFill>
                <a:latin typeface="Calibri"/>
              </a:defRPr>
            </a:pPr>
            <a:r>
              <a:t>TASK 1 / Q3 &amp; Q5 FORENSIC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Root Cause Analysis: Why Adding Headcount Alone Treats Symptoms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65760"/>
            <a:ext cx="30449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172A"/>
                </a:solidFill>
                <a:latin typeface="Calibri"/>
              </a:defRPr>
            </a:pPr>
            <a:r>
              <a:t>Karib Shams | 01797470717</a:t>
            </a:r>
          </a:p>
          <a:p>
            <a:pPr algn="r">
              <a:defRPr sz="850">
                <a:solidFill>
                  <a:srgbClr val="64748B"/>
                </a:solidFill>
                <a:latin typeface="Calibri"/>
              </a:defRPr>
            </a:pPr>
            <a:r>
              <a:t>Delivery - On The Go  |  Slide 3 of 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325880"/>
            <a:ext cx="51206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508760"/>
            <a:ext cx="48463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27048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64.4% Agent-Side Holds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563 HOLDS/WEEK AT RIVERSIDE ARE INTERNALLY INDUCED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39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Riverside (H03): Dispatch Failures Inflate Load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Enormous Hold Volume: 874 holds in Week 2 alone (50.8% of citywide total).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Agent-Side Hold Dominance: 64.42% (563 holds) are caused by internal operational breakdowns: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Late Dispatch: 312 holds (35.7% of all H03 holds). Morning sorting bottlenecks delay departures.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Not Attempted: 132 holds (15.1%). Cascading delays preventing delivery execution.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Agent Time Shortage: 119 holds (13.6%). Agents running out of working hours in transit.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The Vicious Recycling Cycle: Every hold forces a mandatory next-day re-attempt. This inflates attempts to 1.39x of orders, creating phantom workload.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Targeted Solution: Deploy Hold Reduction Programme (BDT 15,000) to cut agent-side holds by 50% (~282 attempts/wk), stabilizing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32588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325880"/>
            <a:ext cx="5120640" cy="731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28232" y="1508760"/>
            <a:ext cx="48463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333EA"/>
                </a:solidFill>
                <a:latin typeface="Calibri"/>
              </a:defRPr>
            </a:pPr>
            <a:r>
              <a:t>56.2% Return Concentration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3 SENIOR AGENTS AT BROOKSIDE DRIVE BDT 14.1K PENALTIES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377439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Brookside (H05): Senior High-Return Outliers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High-Return Identification (Q5 Criteria):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Tenure &gt; 30 days on Oct 26, 2026 AND Return Ratio &gt; 15.0%.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Disproportionate Outlier Concentration at Brookside: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A1045 (Belis Rowntree): 463d tenure, 26.93% return ratio (94 returns).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A1046 (Coris Halvorsen): 647d tenure, 21.98% return ratio (91 returns).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A1047 (Wenian Vantell): 526d tenure, 17.43% return ratio (72 returns).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Severe Cost Impact: Just these 3 senior agents generated 257 returns (56.2% of Brookside's total returns!), draining BDT 14,135 in return penalties.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Management Action: Institute mandatory supervisor customer call verification before logging Return status + route quality retraining. Zero hiring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4F46E5"/>
                </a:solidFill>
                <a:latin typeface="Calibri"/>
              </a:defRPr>
            </a:pPr>
            <a:r>
              <a:t>TASK 1 / Q6 FINANCIAL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Unit Economics: Dissecting Labor Costs and Penalty Erosion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65760"/>
            <a:ext cx="30449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172A"/>
                </a:solidFill>
                <a:latin typeface="Calibri"/>
              </a:defRPr>
            </a:pPr>
            <a:r>
              <a:t>Karib Shams | 01797470717</a:t>
            </a:r>
          </a:p>
          <a:p>
            <a:pPr algn="r">
              <a:defRPr sz="850">
                <a:solidFill>
                  <a:srgbClr val="64748B"/>
                </a:solidFill>
                <a:latin typeface="Calibri"/>
              </a:defRPr>
            </a:pPr>
            <a:r>
              <a:t>Delivery - On The Go  |  Slide 4 of 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32588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508760"/>
            <a:ext cx="48463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27048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BDT 26.56 to BDT 45.67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WIDE UNIT COST VARIANCE DRIVEN BY PENALTIES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39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Cost per Delivered Order Progression (W1 vs W2)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Greenfield (H01): W1 BDT 33.08 -&gt; W2 BDT 26.56 (-19.7%). Economies of scale as deliveries expanded from 1,698 to 2,210.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Lakeview (H02): W1 BDT 36.41 -&gt; W2 BDT 36.16 (-0.7%). High fixed labor cost burden on depressed volume (1,532 deliveries).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Riverside (H03): W1 BDT 52.36 -&gt; W2 BDT 45.67 (-12.8%). Highest unit cost in the network due to catastrophic penalty erosion.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Hillcrest (H04): W1 BDT 30.79 -&gt; W2 BDT 27.62 (-10.3%). Highly productive variable workforce achieving 30.9 deliveries/agent-day.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Brookside (H05): W1 BDT 38.85 -&gt; W2 BDT 37.33 (-3.9%). Inflated by heavy return penalties (BDT 12,980 in Week 2).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Westwood (H06): W1 BDT 29.97 -&gt; W2 BDT 27.07 (-9.7%). Lean, balanced, efficient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32588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325880"/>
            <a:ext cx="51206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28232" y="1508760"/>
            <a:ext cx="48463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Calibri"/>
              </a:defRPr>
            </a:pPr>
            <a:r>
              <a:t>40.9% of Budget is Penalties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RIVERSIDE LOST BDT 37,000 TO PENALTIES IN 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377439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The Penalty Drain: The Case of Riverside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Staggering Penalty Bleed at Riverside (H03):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In Week 2, Riverside incurred BDT 90,482 in total operating costs.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Itemized Cost Breakdown: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Fixed &amp; Variable Labor Pay: BDT 53,482 (59.1%)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Hold Penalties (874 * BDT 30): BDT 26,220 (29.0%)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Return Penalties (196 * BDT 55): BDT 10,780 (11.9%)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Executive Takeaway: Penalty fees represented 40.9% (BDT 37,000) of Riverside's total operating expenditure in Week 2 alone!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Margin Erosion: Penalties added BDT 18.68 to every delivered order at Riverside. Without penalties, H03 unit cost would be BDT 27.00.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Remediation ROI: Eliminating operational penalties yields instantaneous cash recovery.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4F46E5"/>
                </a:solidFill>
                <a:latin typeface="Calibri"/>
              </a:defRPr>
            </a:pPr>
            <a:r>
              <a:t>TASK 1 / Q7 CAPACITY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4-Week Volume Forecast: Baseline Demand vs Attempt-Adjusted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65760"/>
            <a:ext cx="30449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172A"/>
                </a:solidFill>
                <a:latin typeface="Calibri"/>
              </a:defRPr>
            </a:pPr>
            <a:r>
              <a:t>Karib Shams | 01797470717</a:t>
            </a:r>
          </a:p>
          <a:p>
            <a:pPr algn="r">
              <a:defRPr sz="850">
                <a:solidFill>
                  <a:srgbClr val="64748B"/>
                </a:solidFill>
                <a:latin typeface="Calibri"/>
              </a:defRPr>
            </a:pPr>
            <a:r>
              <a:t>Delivery - On The Go  |  Slide 5 of 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32588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508760"/>
            <a:ext cx="48463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27048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12,495 Weekly Orders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ORDER VOLUME ACCELERATES CITYWIDE IN 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39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Forecast Order Volume Dynamics (Oct 27 – Nov 23)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Period: 4 weeks (28 operating days, 7 days/week).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Planning Capacity: 238 attempts / agent / week (40 attempts * 7 days * 0.85).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Baseline Model (Expected Orders / 238):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Greenfield (H01): ~2,520 orders -&gt; Needs 11 agents (Staffing Gap: +1 vs 10 active).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Lakeview (H02): ~1,575 orders -&gt; Needs 7 agents (Surplus: -4 vs 11 active).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Riverside (H03): ~2,211 orders -&gt; Needs 10 agents (Surplus: -2 vs 12 active!).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Hillcrest (H04): ~2,310 orders -&gt; Needs 10 agents (Staffing Gap: +1 vs 9 active).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Brookside (H05): ~1,995 orders -&gt; Needs 9 agents (Surplus: -2 vs 11 active).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Westwood (H06): ~1,890 orders -&gt; Needs 8-9 agents (Balanced vs 9 active).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The Baseline Trap: Pure order math shows Riverside has a surplus of 2 agents, completely masking its hold-driven operational breakdown!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32588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325880"/>
            <a:ext cx="512064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28232" y="1508760"/>
            <a:ext cx="48463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F46E5"/>
                </a:solidFill>
                <a:latin typeface="Calibri"/>
              </a:defRPr>
            </a:pPr>
            <a:r>
              <a:t>1.07x to 1.35x Multipliers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REAL WORKLOAD CREATES A +2 TO +3 NET NETWORK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377439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Adjusted Model (Real Operational Load)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Real Operational Load = Expected Orders * Historical Attempt Multiplier: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Greenfield (1.073x mult): Peak attempts 2,758 -&gt; Needs 12 agents (Gap: +2).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Lakeview (1.073x mult): Peak attempts 1,723 -&gt; Needs 8 agents (Surplus: -3).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Riverside (1.351x mult): Peak attempts 3,033 -&gt; Needs 13 agents (Gap: +1).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Hillcrest (1.078x mult): Peak attempts 2,539 -&gt; Needs 11 agents (Gap: +2).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Brookside (1.085x mult): Peak attempts 2,207 -&gt; Needs 10 agents (Surplus: -1).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Westwood (1.067x mult): Peak attempts 2,058 -&gt; Needs 9 agents (Balanced).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The Decisive Finding: Networkwide staffing gap is only +2 to +3 agents, but capacity is heavily misallocated.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Inter-Cluster Transfer Solution: Transferring 2 agents solves Greenfield immediately without new headcount.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4F46E5"/>
                </a:solidFill>
                <a:latin typeface="Calibri"/>
              </a:defRPr>
            </a:pPr>
            <a:r>
              <a:t>TASK 2 / Q8 DECISION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Strategic Decision Architecture: Hub-by-Hub Evaluation of the 8-Agent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65760"/>
            <a:ext cx="30449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172A"/>
                </a:solidFill>
                <a:latin typeface="Calibri"/>
              </a:defRPr>
            </a:pPr>
            <a:r>
              <a:t>Karib Shams | 01797470717</a:t>
            </a:r>
          </a:p>
          <a:p>
            <a:pPr algn="r">
              <a:defRPr sz="850">
                <a:solidFill>
                  <a:srgbClr val="64748B"/>
                </a:solidFill>
                <a:latin typeface="Calibri"/>
              </a:defRPr>
            </a:pPr>
            <a:r>
              <a:t>Delivery - On The Go  |  Slide 6 of 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3375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325880"/>
            <a:ext cx="32461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508760"/>
            <a:ext cx="29718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27048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REJECT HIRING / TRANSFER 2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CLUSTER A: BDT 4,000 TOTAL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39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Cluster A: Greenfield &amp; Lakeview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Request: Hire 2 new agents for Greenfield (H01).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Verdict: REJECT HIRING. APPROVE 2 INTERNAL TRANSFERS from Lakeview (H02).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Rationale: Lakeview utilisation is 56.2% (eligible donor &lt;75%). H02 has 11 agents and only needs 7-8.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Cost: BDT 4,000 (2 * BDT 2,000 transfer fee).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Operational Advantage: Zero added payroll overhead; transferred agents operate at 100% speed on Day 1 (avoids 60% rookie penalty).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325880"/>
            <a:ext cx="33375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325880"/>
            <a:ext cx="32461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08576" y="1508760"/>
            <a:ext cx="29718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4296" y="1527048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REMEDIATE H03 / HIRE 2 AT H04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CLUSTER B: TARGETED CAPACITY 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377439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Cluster B: Riverside &amp; Hillcrest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Riverside (H03) Request: Hire 3 agents.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Verdict: REJECT HIRING. DEPLOY HOLD REDUCTION PROGRAMME (BDT 15,000).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Rationale: 64.4% agent-side holds. Cutting 50% removes ~282 attempts/wk, reducing staff need to 11.6 (already has 12 active!).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Hillcrest (H04) Request: Hire 2 agents.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Verdict: APPROVE TARGETED HIRING OF 2 AGENTS (1 Fixed + 1 Variable, BDT 46,698 total).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Rationale: 95.9% util, clean operations (only 21.9% agent holds), high speed (30.9 deliv/day), no donor in cluster.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325880"/>
            <a:ext cx="33375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65592" y="1325880"/>
            <a:ext cx="32461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02752" y="1508760"/>
            <a:ext cx="29718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1527048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REJECT HIRING / COACH OUTLIERS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CLUSTER C: QUALITY AUDITS RESOLVE DEFICIT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377439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Cluster C: Brookside &amp; Westwood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Brookside (H05) Request: Hire 1 agent.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Verdict: REJECT HIRING. INSTITUTE SUPERVISOR CALL AUDITS.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Rationale: 71.5% util (&lt;75%). 11 active agents already exceed 9-10 needed. 3 senior agents cause 56.2% of returns. Retraining solves root issue.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Westwood (H06) Request: Hire 0-1 agents.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Verdict: REJECT HIRING. MAINTAIN 9 ACTIVE AGENTS.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Rationale: 80.4% util, exactly matches forecast demand of ~1,890 orders/week (needs 8.5 agents). Balanced operation.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4F46E5"/>
                </a:solidFill>
                <a:latin typeface="Calibri"/>
              </a:defRPr>
            </a:pPr>
            <a:r>
              <a:t>TASK 2 / Q9 FINANCIAL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Capital Allocation &amp; Financial ROI: Maximizing Impact of BDT 70,000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65760"/>
            <a:ext cx="30449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172A"/>
                </a:solidFill>
                <a:latin typeface="Calibri"/>
              </a:defRPr>
            </a:pPr>
            <a:r>
              <a:t>Karib Shams | 01797470717</a:t>
            </a:r>
          </a:p>
          <a:p>
            <a:pPr algn="r">
              <a:defRPr sz="850">
                <a:solidFill>
                  <a:srgbClr val="64748B"/>
                </a:solidFill>
                <a:latin typeface="Calibri"/>
              </a:defRPr>
            </a:pPr>
            <a:r>
              <a:t>Delivery - On The Go  |  Slide 7 of 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325880"/>
            <a:ext cx="512064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508760"/>
            <a:ext cx="48463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27048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F46E5"/>
                </a:solidFill>
                <a:latin typeface="Calibri"/>
              </a:defRPr>
            </a:pPr>
            <a:r>
              <a:t>BDT 65,698 Allocated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STRICTLY WITHIN THE BDT 70,000 FINANCE ENVELOPE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39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Itemized BDT 70,000 Budget Breakdown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1. Intra-Cluster Transfers: Lakeview -&gt; Greenfield (2 Agents)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• Cost: BDT 4,000 (2 * BDT 2,000) | Category: One-Time Transfer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2. Hold Reduction Programme at Riverside (H03)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• Cost: BDT 15,000 (1 Hub) | Category: Operational Remediation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3. Recruitment &amp; Onboarding Fees at Hillcrest (H04)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• Cost: BDT 10,000 (2 Agents * BDT 5,000) | Category: One-Time Onboarding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4. Fixed Agent Month-1 Salary (1 Agent at H04)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• Cost: BDT 16,900 (Guaranteed Core Capacity) | Category: Fixed Payroll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5. Variable Agent Month-1 Pay (1 Agent at H04)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• Cost: BDT 19,798 (BDT 300*26 base + ~857 deliv * BDT 14) | Category: Variable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6. Operational Contingency Reserve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• Cost: BDT 4,302 (Dynamic Volume Buffer) | Category: Unallocated Reserve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-----------------------------------------------------------------------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TOTAL EXPENDITURE: BDT 65,698 (BDT 4,302 Under BDT 70,000 Limit)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32588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32588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28232" y="1508760"/>
            <a:ext cx="48463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+110.2% Net ROI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BDT 35.7K CASH SAVINGS + BDT 111.5K REVENUE PRESERVED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377439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Direct Payback &amp; Value Creation Dynamics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Hold Penalty Savings at Riverside (H03):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Removes ~282 holds/wk @ BDT 30 = BDT 8,460/wk.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Accounting for 14-day ramp (W1: 25%, W2: 35%, W3-4: 50%):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Total 4-Week Hold Penalty Savings = BDT 27,060.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Return Penalty Savings at Brookside (H05):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Coaching 3 senior agents saves ~157 returns = BDT 8,635.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Rapid Cash Cost Payback: BDT 35,695 in direct penalty savings pays back 54.3% of the entire investment in Month 1!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Revenue Preservation: 2 new hires at H04 protect ~1,714 deliveries * BDT 65.03 delivery charge = BDT 111,461 in customer revenue.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Net Financial Benefit: BDT 147,156 total quantifiable value.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Net Financial ROI: +110.2% on total capital deployed!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4F46E5"/>
                </a:solidFill>
                <a:latin typeface="Calibri"/>
              </a:defRPr>
            </a:pPr>
            <a:r>
              <a:t>TASK 2 / Q10 OPERATIONAL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Execution Roadmap &amp; Early-Warning Monitoring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65760"/>
            <a:ext cx="30449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172A"/>
                </a:solidFill>
                <a:latin typeface="Calibri"/>
              </a:defRPr>
            </a:pPr>
            <a:r>
              <a:t>Karib Shams | 01797470717</a:t>
            </a:r>
          </a:p>
          <a:p>
            <a:pPr algn="r">
              <a:defRPr sz="850">
                <a:solidFill>
                  <a:srgbClr val="64748B"/>
                </a:solidFill>
                <a:latin typeface="Calibri"/>
              </a:defRPr>
            </a:pPr>
            <a:r>
              <a:t>Delivery - On The Go  |  Slide 8 of 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32588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508760"/>
            <a:ext cx="48463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27048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30-Day Execution Plan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IMMEDIATE DEPLOYMENT WITH ZERO SERVICE DISRUPTION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39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30-Day Phased Implementation Timeline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Days 1–3 (Immediate Deployment):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Execute 2 agent transfers from Lakeview to Greenfield; conduct route briefing.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Sign vendor contract and initiate Hold Reduction Programme at Riverside.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Complete recruitment screening and onboard 2 new agents at Hillcrest.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Days 4–10 (Initial Ramp &amp; Shadowing):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Hillcrest new hires shadow senior couriers at 60% speed (24 attempts/day).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Morning sorting dispatch audit initiated at Riverside (08:30 departure target).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Enforce mandatory customer call verification before Return entry at Brookside.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Days 11–14 (Full Capacity Reached):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Hillcrest new hires reach 100% capacity (40 attempts/day).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Riverside hold reduction programme achieves full 50% reduction in agent holds.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• Days 15–30 (Steady-State Governance):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- Maintain 80–85% target utilisation across all 6 hubs.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32588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325880"/>
            <a:ext cx="51206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28232" y="1508760"/>
            <a:ext cx="48463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Calibri"/>
              </a:defRPr>
            </a:pPr>
            <a:r>
              <a:t>4 Critical Early-Warning KPIs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NUMERICAL THRESHOLDS WITH MANDATED MITIGATIONS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377439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Week 1 &amp; 2 Early-Warning KPI Protocol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1. Riverside Hold Programme Ramp Lag: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• Metric: Agent-side holds / day at H03 (Late Dispatch + Not Attempted).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• Warning Triggers: W1 &gt; 55/day | W2 &gt; 40/day (Baseline: ~80/day).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• Mandatory Action: Deploy mobile sorting unit; authorize 1h overtime.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2. Hillcrest New Hire Ramp-Up Speed: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• Metric: Attempts completed per new agent per day.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• Warning Triggers: W1 &lt; 20/day | W2 &lt; 32/day (Standard: 24 / 40).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• Mandatory Action: Pair with top-performing senior agent; rezone density.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3. Lakeview to Greenfield Transfer Friction: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• Metric: Deliveries completed per working day by transferred couriers.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• Warning Triggers: W1 &lt; 22/day | W2 &lt; 25/day (Target: 27/day).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• Mandatory Action: Provide pre-mapped navigation; assign zone buddy.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4. Brookside Senior Return Inertia: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• Metric: Combined return % of agents A1045, A1046, A1047.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• Warning Triggers: W1 &gt; 12.0% | W2 &gt; 8.0% (Baseline: 22.0%).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  <a:latin typeface="Calibri"/>
              </a:defRPr>
            </a:pPr>
            <a:r>
              <a:t>   • Mandatory Action: Require manager sign-off on all returns; reassign routes.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